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97280"/>
            <a:ext cx="3474720" cy="365760"/>
          </a:xfrm>
          <a:prstGeom prst="roundRect">
            <a:avLst/>
          </a:prstGeom>
          <a:solidFill>
            <a:srgbClr val="0F1E41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0F5D4"/>
                </a:solidFill>
              </a:defRPr>
            </a:pPr>
            <a:r>
              <a:t>RESEARCH &amp; ENGINEERING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Hybrid Explainable AI Framework for</a:t>
            </a:r>
            <a:br/>
            <a:r>
              <a:t>Pulmonary Nodule Malignancy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An End-to-End Multimodal Deep Learning System Merging 3D CT Volumetric Tensors with Handcrafted Clinical Radiomics via Dynamic Gated Fusion and 3D Grad-CAM 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931920"/>
            <a:ext cx="2286000" cy="1097280"/>
          </a:xfrm>
          <a:prstGeom prst="roundRect">
            <a:avLst/>
          </a:prstGeom>
          <a:solidFill>
            <a:srgbClr val="121A30"/>
          </a:solidFill>
          <a:ln w="1524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0F5D4"/>
                </a:solidFill>
              </a:defRPr>
            </a:pPr>
            <a:r>
              <a:t>0.9042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Ensemble ROC-AUC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931920"/>
            <a:ext cx="2286000" cy="1097280"/>
          </a:xfrm>
          <a:prstGeom prst="roundRect">
            <a:avLst/>
          </a:prstGeom>
          <a:solidFill>
            <a:srgbClr val="121A30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D6A0"/>
                </a:solidFill>
              </a:defRPr>
            </a:pPr>
            <a:r>
              <a:t>86.00%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Overall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2286000" cy="1097280"/>
          </a:xfrm>
          <a:prstGeom prst="roundRect">
            <a:avLst/>
          </a:prstGeom>
          <a:solidFill>
            <a:srgbClr val="121A30"/>
          </a:solidFill>
          <a:ln w="15240">
            <a:solidFill>
              <a:srgbClr val="F7B8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7B801"/>
                </a:solidFill>
              </a:defRPr>
            </a:pPr>
            <a:r>
              <a:t>0.5783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Youden's J Cutoff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3931920"/>
            <a:ext cx="2286000" cy="1097280"/>
          </a:xfrm>
          <a:prstGeom prst="roundRect">
            <a:avLst/>
          </a:prstGeom>
          <a:solidFill>
            <a:srgbClr val="121A30"/>
          </a:solidFill>
          <a:ln w="1524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48CAE5"/>
                </a:solidFill>
              </a:defRPr>
            </a:pPr>
            <a:r>
              <a:t>1,242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Consensus Nodules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  <a:latin typeface="Arial"/>
              </a:defRPr>
            </a:pPr>
            <a:r>
              <a:t>Hybrid XAI Lung Nodule Framework  |  LIDC-IDRI Deep Learning Pipeline  |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0F1E41"/>
          </a:solidFill>
          <a:ln w="1270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5D4"/>
                </a:solidFill>
                <a:latin typeface="Arial"/>
              </a:defRPr>
            </a:pPr>
            <a:r>
              <a:t>CLINICAL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Clinical Motivation &amp; The Healthcare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Lung cancer causes 1.8M annual deaths worldwide; diagnostic uncertainty and opaque AI models create clinical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1. The High Clinical Stakes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Leading Cancer Killer: Lung cancer causes more deaths than breast, colon, and prostate cancers combined.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Early Detection Saves Lives: 5-year survival jumps from &lt;10% (Late Stage) to &gt;60% if detected as an early Stage I nodule.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Diagnostic Urgency: CT screening catches thousands of subtle (3–30mm) nodules that require immediate, accurate risk triaging.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2. Radiologist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Inter-Observer Variability: Even veteran radiologists frequently disagree on borderline, indeterminate lesions.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Unnecessary Biopsy Trauma: Over 20–30% of invasive lung biopsies turn out to be benign, causing patient trauma and high pneumothorax risks.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Cognitive Overload: Reviewing hundreds of thin-slice CT images per patient creates perceptual misses in high-volume wards.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3. The AI 'Black-Box' Trap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Opaque Predictions: Traditional 3D CNNs output raw diagnostic probabilities without anatomical evidence or visual reasoning.</a:t>
            </a:r>
          </a:p>
          <a:p>
            <a:pPr>
              <a:spcAft>
                <a:spcPts val="1200"/>
              </a:spcAft>
              <a:defRPr sz="1100">
                <a:solidFill>
                  <a:srgbClr val="FFFFFF"/>
                </a:solidFill>
              </a:defRPr>
            </a:pPr>
            <a:r>
              <a:t>• Clinician Distrust: Doctors will not schedule aggressive surgery based solely on an unexplainable statistical number.</a:t>
            </a:r>
          </a:p>
          <a:p>
            <a:pPr>
              <a:spcAft>
                <a:spcPts val="1200"/>
              </a:spcAft>
              <a:defRPr sz="1100">
                <a:solidFill>
                  <a:srgbClr val="00F5D4"/>
                </a:solidFill>
              </a:defRPr>
            </a:pPr>
            <a:r>
              <a:t>• Our Solution: A hybrid multimodal architecture combining 3D image voxels with radiomic features + 3D Grad-CAM heatmaps.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  <a:latin typeface="Arial"/>
              </a:defRPr>
            </a:pPr>
            <a:r>
              <a:t>Hybrid XAI Lung Nodule Framework  |  LIDC-IDRI Deep Learning Pipeline  |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0F1E41"/>
          </a:solidFill>
          <a:ln w="1270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5D4"/>
                </a:solidFill>
                <a:latin typeface="Arial"/>
              </a:defRPr>
            </a:pPr>
            <a:r>
              <a:t>DATASET &amp;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LIDC-IDRI Dataset: 4-Radiologist Consensus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Establishing a rigorous binary classification benchmark across 1,010 thoracic CT scan subjects.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The LIDC-IDRI Cohort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Repository: The Cancer Imaging Archive (TCIA) National Biomedical Imaging Archive.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Total Patients &amp; Series: 1,010 thoracic CT patients spanning 1,018 series.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Raw Data Footprint: ~133 Gigabytes of high-resolution DICOM slices.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Multi-Reader Annotation: Up to 4 experienced thoracic radiologists evaluated every nodule independently on a 1 (low) to 5 (high) malignancy scale.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Total Expert Nodules: 1,608 unique nodules annotated across the full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Consensus Ground Truth Partitioning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Consensus Score: Average rating across all reviewing radiologists for that nodule.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Class 0 (Benign): Consensus score &lt; 3.0 (709 nodules).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Class 1 (Malignant): Consensus score &gt; 3.0 (533 nodules).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Class -1 (Indeterminate / Dropped): Exactly 366 nodules had a score == 3.0 (even 50/50 radiologist split).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The Key Data Hygiene Decision: Dropping ambiguous Class -1 nodules prevents label noise from corrupting neural gradients.</a:t>
            </a:r>
          </a:p>
          <a:p>
            <a:pPr>
              <a:spcAft>
                <a:spcPts val="800"/>
              </a:spcAft>
              <a:defRPr sz="1100">
                <a:solidFill>
                  <a:srgbClr val="00F5D4"/>
                </a:solidFill>
              </a:defRPr>
            </a:pPr>
            <a:r>
              <a:t>• Total Valid Cohort: Exactly 1,242 consensus-labeled nodules for training and evaluation.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  <a:latin typeface="Arial"/>
              </a:defRPr>
            </a:pPr>
            <a:r>
              <a:t>Hybrid XAI Lung Nodule Framework  |  LIDC-IDRI Deep Learning Pipeline  |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0F1E41"/>
          </a:solidFill>
          <a:ln w="1270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5D4"/>
                </a:solidFill>
                <a:latin typeface="Arial"/>
              </a:defRPr>
            </a:pPr>
            <a:r>
              <a:t>PHASES 0 &amp; 1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Automated Cloud Ingestion &amp; Medical 3D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Translating 133 GB of heterogeneous clinical DICOM scans into standardized, AI-ready 3D tensors.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Phase 0: Cloud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Queries TCIA REST API for collection='LIDC-IDRI' and modality='CT'.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Direct cloud-to-cloud byte streaming into Google Drive (zero local storage footprint).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Resume-safe checkpoint logic skips already-downloaded series upon Colab timeout.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Isotropic 1.0mm Resampling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Scanners have varying slice thicknesses (0.6mm to 2.5mm).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Resamples all CT volumes to universal 1.0 x 1.0 x 1.0 mm isotropic spacing.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Ensures spherical geometry is preserved regardless of hospital machine.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7B8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HU Windowing &amp; 64³ Patches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Lung Windowing [-1000, 400] HU isolates lung soft tissue; normalized to [0, 1].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Extracts uniform 64 x 64 x 64 voxel 3D subvolume around each nodule centroid.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Zero-padding handles peripheral nodules near chest walls.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5 Radiomic Features &amp; Manifest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Extracts 5 expert semantic attributes: Subtlety, Sphericity, Margin, Spiculation, and Texture (1 to 5 scale).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Patches serialized as individual PyTorch .pt tensors linked via master manifest.csv.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  <a:latin typeface="Arial"/>
              </a:defRPr>
            </a:pPr>
            <a:r>
              <a:t>Hybrid XAI Lung Nodule Framework  |  LIDC-IDRI Deep Learning Pipeline  |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0F1E41"/>
          </a:solidFill>
          <a:ln w="1270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5D4"/>
                </a:solidFill>
                <a:latin typeface="Arial"/>
              </a:defRPr>
            </a:pPr>
            <a: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Phase 2: Dual-Branch Network &amp; Dynamic Gated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A dual-stream architecture adaptively modulating spatial 3D convolutions with clinical radiomics.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Dual-Branch Network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000">
                <a:solidFill>
                  <a:srgbClr val="00F5D4"/>
                </a:solidFill>
              </a:defRPr>
            </a:pPr>
            <a:r>
              <a:t>Branch 1: 3D CNN (Visual Morphology):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  • Input: (B, 1, 64, 64, 64) 3D voxel subvolumes.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  • 4 Cascaded Blocks: Conv3D(1-&gt;16-&gt;32-&gt;64-&gt;128) + ReLU + MaxPool3D(2).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  • Dense Projection: Flatten(8,192) -&gt; Linear(256) -&gt; Linear(128).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  • Output: 128-dimensional spatial feature embedding.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F5D4"/>
                </a:solidFill>
              </a:defRPr>
            </a:pPr>
            <a:r>
              <a:t>Branch 2: Tabular MLP (Clinical Semantics):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  • Input: (B, 5) vector [subtlety, sphericity, margin, spiculation, texture].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  • Layers: Linear(5-&gt;16) -&gt; ReLU -&gt; Linear(16-&gt;32) -&gt; ReLU.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  • Output: 32-dimensional radiomic embedding.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7B8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Dynamic Sigmoid Gating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000">
                <a:solidFill>
                  <a:srgbClr val="F7B801"/>
                </a:solidFill>
                <a:latin typeface="Courier New"/>
              </a:defRPr>
            </a:pPr>
            <a:r>
              <a:t>Concatenation: z = [ f_visual (128)  ||  f_tabular (32) ]  ∈  R^160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F7B801"/>
                </a:solidFill>
                <a:latin typeface="Courier New"/>
              </a:defRPr>
            </a:pPr>
            <a:r>
              <a:t>Sigmoid Gating Vector: g = σ( W_gate · z + b_gate ),   g ∈ (0, 1)^160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F7B801"/>
                </a:solidFill>
                <a:latin typeface="Courier New"/>
              </a:defRPr>
            </a:pPr>
            <a:r>
              <a:t>Hadamard Fusion: z_gated = z ⊙ g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Classification Head: Linear(160, 64) -&gt; ReLU -&gt; Dropout(0.3) -&gt; Linear(64, 2)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Why Gated Fusion Beats Simple Concat?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  • Noise Suppression: If the CT scan is noisy or motion-blurred, the gate suppresses visual channels and routes decisions through radiomics.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  • Adaptive Balancing: Prevents the 128 image features from overwhelming the 5 clinical features during gradient updates.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  <a:latin typeface="Arial"/>
              </a:defRPr>
            </a:pPr>
            <a:r>
              <a:t>Hybrid XAI Lung Nodule Framework  |  LIDC-IDRI Deep Learning Pipeline  |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0F1E41"/>
          </a:solidFill>
          <a:ln w="1270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5D4"/>
                </a:solidFill>
                <a:latin typeface="Arial"/>
              </a:defRPr>
            </a:pPr>
            <a:r>
              <a:t>TRAINING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Leakage-Free Validation &amp; Full-Scale GPU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Ensuring rigorous patient-level generalizability and efficient mixed-precision GPU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Patient-Level GroupKFold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000">
                <a:solidFill>
                  <a:srgbClr val="EF476F"/>
                </a:solidFill>
              </a:defRPr>
            </a:pPr>
            <a:r>
              <a:t>ZERO DATA LEAKAGE PROTOCOL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The Threat: Multiple nodules often belong to the same patient. Random splits leak patient-specific scanner artifacts into test sets.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The Solution: GroupKFold(n_splits=5) grouped strictly by patient_id.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Guarantee: Zero patient identity overlap between training and validation folds.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Data Hygiene &amp; 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000">
                <a:solidFill>
                  <a:srgbClr val="00F5D4"/>
                </a:solidFill>
              </a:defRPr>
            </a:pPr>
            <a:r>
              <a:t>DYNAMIC SCALING &amp; CLASS WEIGHTS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Fold Isolation: StandardScaler fit strictly on training fold indices before transforming validation fold.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Inverse Class Weights: Loss weighted inversely by class frequencies: w = 1 / [N_benign, N_malignant], preventing majority benign collapse.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7B8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Automatic Mixed Precision (AMP)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000">
                <a:solidFill>
                  <a:srgbClr val="F7B801"/>
                </a:solidFill>
              </a:defRPr>
            </a:pPr>
            <a:r>
              <a:t>PHASE4_FULL_SCALE.IPYNB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torch.cuda.amp.autocast() executes convolutions in FP16; GradScaler() prevents underflow.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Halves GPU VRAM and doubles throughput.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3D spatial augmentations (RandomAffine, RandomFlip) prevent slice memorization.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  <a:latin typeface="Arial"/>
              </a:defRPr>
            </a:pPr>
            <a:r>
              <a:t>Hybrid XAI Lung Nodule Framework  |  LIDC-IDRI Deep Learning Pipeline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0F1E41"/>
          </a:solidFill>
          <a:ln w="1270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5D4"/>
                </a:solidFill>
                <a:latin typeface="Arial"/>
              </a:defRPr>
            </a:pPr>
            <a:r>
              <a:t>EVALUATION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Phase 3: Ensemble Soft Voting &amp; Decision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Aggregating 5 cross-validation fold models with mathematically calibrated threshold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5-Fold Committee Consensus (Ensemble)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Committee of 5 Experts: Instead of relying on a single checkpoint, inference executes across all 5 saved fold models simultaneously.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Soft Probability Averaging: P_consensus = (1/5) ∑ Softmax(Model_k(x)).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Variance Reduction: Cancels individual fold variance and eliminates single-split overfitting.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Proven Diagnostic Power: Pushes the full-cohort discrimination to 0.9042 ROC-AUC.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Decision Cutoff Calibration (Youden's 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The Default 0.50 Flaw: The default 50% probability cutoff assumes equal class costs, causing excessive false-positive alarms in clinical screening.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Youden's J Index Formulation: J = Sensitivity + Specificity - 1 = TPR - FPR.</a:t>
            </a:r>
          </a:p>
          <a:p>
            <a:pPr>
              <a:spcAft>
                <a:spcPts val="1000"/>
              </a:spcAft>
              <a:defRPr sz="1100">
                <a:solidFill>
                  <a:srgbClr val="00F5D4"/>
                </a:solidFill>
              </a:defRPr>
            </a:pPr>
            <a:r>
              <a:t>• Optimal Calibrated Threshold: 0.5783 (57.83%).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Clinical Impact: Maximizes cancer sensitivity (76%) while providing 90% benign specificity, eliminating unnecessary surgical biopsies.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  <a:latin typeface="Arial"/>
              </a:defRPr>
            </a:pPr>
            <a:r>
              <a:t>Hybrid XAI Lung Nodule Framework  |  LIDC-IDRI Deep Learning Pipeline  |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0F1E41"/>
          </a:solidFill>
          <a:ln w="1270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5D4"/>
                </a:solidFill>
                <a:latin typeface="Arial"/>
              </a:defRPr>
            </a:pPr>
            <a:r>
              <a:t>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Phase 3: 3D Grad-CAM Voxel-Level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Visualizing the network's internal diagnostic reasoning across Axial, Coronal, and Sagittal planes.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3D Grad-CAM Mathematical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• Hook Registration: Forward and backward hooks capture activations and gradients from conv_blocks[9] (final 3D convolutional layer).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• Volumetric Channel Weights: α_k^c = (1/D·H·W) ∑∑∑ ∂y^c / ∂A^k.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• ReLU Heatmap Generation: L = ReLU( ∑ α_k^c A^k ) retains features positively contributing to the malignancy score.</a:t>
            </a:r>
          </a:p>
          <a:p>
            <a:pPr>
              <a:spcAft>
                <a:spcPts val="1000"/>
              </a:spcAft>
              <a:defRPr sz="1050">
                <a:solidFill>
                  <a:srgbClr val="FFFFFF"/>
                </a:solidFill>
              </a:defRPr>
            </a:pPr>
            <a:r>
              <a:t>• Trilinear Upsampling: Scipy zoom resamples the 4x4x4 activation volume back to 64x64x64 voxel matrix.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Tri-Planar Clinical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Synchronized 3-Plane Plot:</a:t>
            </a:r>
          </a:p>
          <a:p>
            <a:pPr>
              <a:spcAft>
                <a:spcPts val="800"/>
              </a:spcAft>
              <a:defRPr sz="1050">
                <a:solidFill>
                  <a:srgbClr val="00F5D4"/>
                </a:solidFill>
              </a:defRPr>
            </a:pPr>
            <a:r>
              <a:t>•   1. Axial Slice (Transverse cross-section of nodule)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  2. Coronal Slice (Frontal anatomical perspective)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  3. Sagittal Slice (Lateral depth view)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Clinical Verification: Proves the network focuses directly on irregular, spiculated nodule margins rather than ribs or scanner noise.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Regulatory Auditability: Provides the interpretable evidence trail required by the EU AI Act and FDA SaMD clinical guidelines.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  <a:latin typeface="Arial"/>
              </a:defRPr>
            </a:pPr>
            <a:r>
              <a:t>Hybrid XAI Lung Nodule Framework  |  LIDC-IDRI Deep Learning Pipeline  |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0F1E41"/>
          </a:solidFill>
          <a:ln w="1270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5D4"/>
                </a:solidFill>
                <a:latin typeface="Arial"/>
              </a:defRPr>
            </a:pPr>
            <a: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Model Performance, Ablation Study &amp;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Comprehensive validation across 1,242 consensus nodules under 5-fold cross-validation.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Performance Metrics (1,242 Nodules)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377440"/>
          <a:ext cx="5120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554480"/>
              </a:tblGrid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  <a:latin typeface="Arial"/>
                        </a:defRPr>
                      </a:pPr>
                      <a:r>
                        <a:t>Threshold / Note</a:t>
                      </a:r>
                    </a:p>
                  </a:txBody>
                  <a:tcPr>
                    <a:solidFill>
                      <a:srgbClr val="0F193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Overall Accuracy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7B801"/>
                          </a:solidFill>
                          <a:latin typeface="Arial"/>
                        </a:defRPr>
                      </a:pPr>
                      <a:r>
                        <a:t>86.00%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Cutoff: 0.5783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Ensemble ROC-AUC</a:t>
                      </a:r>
                    </a:p>
                  </a:txBody>
                  <a:tcPr>
                    <a:solidFill>
                      <a:srgbClr val="2633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7B801"/>
                          </a:solidFill>
                          <a:latin typeface="Arial"/>
                        </a:defRPr>
                      </a:pPr>
                      <a:r>
                        <a:t>0.9042</a:t>
                      </a:r>
                    </a:p>
                  </a:txBody>
                  <a:tcPr>
                    <a:solidFill>
                      <a:srgbClr val="2633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All Thresholds</a:t>
                      </a:r>
                    </a:p>
                  </a:txBody>
                  <a:tcPr>
                    <a:solidFill>
                      <a:srgbClr val="26335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Calibrated Cutoff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7B801"/>
                          </a:solidFill>
                          <a:latin typeface="Arial"/>
                        </a:defRPr>
                      </a:pPr>
                      <a:r>
                        <a:t>0.5783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Youden's J Index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Benign (P / R / F1)</a:t>
                      </a:r>
                    </a:p>
                  </a:txBody>
                  <a:tcPr>
                    <a:solidFill>
                      <a:srgbClr val="2633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7B801"/>
                          </a:solidFill>
                          <a:latin typeface="Arial"/>
                        </a:defRPr>
                      </a:pPr>
                      <a:r>
                        <a:t>0.89 / 0.90 / 0.90</a:t>
                      </a:r>
                    </a:p>
                  </a:txBody>
                  <a:tcPr>
                    <a:solidFill>
                      <a:srgbClr val="2633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High Specificity</a:t>
                      </a:r>
                    </a:p>
                  </a:txBody>
                  <a:tcPr>
                    <a:solidFill>
                      <a:srgbClr val="26335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Malignant (P / R / F1)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7B801"/>
                          </a:solidFill>
                          <a:latin typeface="Arial"/>
                        </a:defRPr>
                      </a:pPr>
                      <a:r>
                        <a:t>0.77 / 0.76 / 0.77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High Sensitivity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1828800"/>
            <a:ext cx="502920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Ablation Study &amp;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000" b="1">
                <a:solidFill>
                  <a:srgbClr val="00F5D4"/>
                </a:solidFill>
              </a:defRPr>
            </a:pPr>
            <a:r>
              <a:t>Multimodal Ablation Study: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• 3D CNN Only (Tabular zeroed): 0.6901 ROC-AUC (Drop of -0.2141)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• Tabular MLP Only (Images zeroed): 0.8985 ROC-AUC</a:t>
            </a:r>
          </a:p>
          <a:p>
            <a:pPr>
              <a:spcAft>
                <a:spcPts val="200"/>
              </a:spcAft>
              <a:defRPr sz="1000" b="0">
                <a:solidFill>
                  <a:srgbClr val="06D6A0"/>
                </a:solidFill>
              </a:defRPr>
            </a:pPr>
            <a:r>
              <a:t>  • Hybrid Gated Fusion: 0.9042 ROC-AUC (Best Overall)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-&gt; Proves multimodal synergy statistically outperforms single branches.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0F5D4"/>
                </a:solidFill>
              </a:defRPr>
            </a:pPr>
            <a:r>
              <a:t>Literature Benchmarks on LIDC-IDRI: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• Traditional SVM (Classical ML): 0.850 AUC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• Standard 3D CNN (Image Only): 0.930 AUC (Black-box)</a:t>
            </a:r>
          </a:p>
          <a:p>
            <a:pPr>
              <a:spcAft>
                <a:spcPts val="200"/>
              </a:spcAft>
              <a:defRPr sz="1000" b="0">
                <a:solidFill>
                  <a:srgbClr val="06D6A0"/>
                </a:solidFill>
              </a:defRPr>
            </a:pPr>
            <a:r>
              <a:t>  • Our Hybrid Model: 0.9042 AUC (With 3D XAI &amp; Gating)</a:t>
            </a:r>
          </a:p>
          <a:p>
            <a:pPr>
              <a:spcAft>
                <a:spcPts val="200"/>
              </a:spcAft>
              <a:defRPr sz="1000" b="1">
                <a:solidFill>
                  <a:srgbClr val="00F5D4"/>
                </a:solidFill>
              </a:defRPr>
            </a:pPr>
            <a:r>
              <a:t>  • NoduleX (SOTA Literature): 0.971 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  <a:latin typeface="Arial"/>
              </a:defRPr>
            </a:pPr>
            <a:r>
              <a:t>Hybrid XAI Lung Nodule Framework  |  LIDC-IDRI Deep Learning Pipeline  |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0F1E41"/>
          </a:solidFill>
          <a:ln w="1270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F5D4"/>
                </a:solidFill>
                <a:latin typeface="Arial"/>
              </a:defRPr>
            </a:pPr>
            <a:r>
              <a:t>DEPLOYMENT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 Gradio Dashboard, Clinical Impact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Translating deep learning research into a point-of-care clinical tool (final_inference_pipeline.ipynb).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48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Live Production Web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00F5D4"/>
                </a:solidFill>
              </a:defRPr>
            </a:pPr>
            <a:r>
              <a:t>Point-of-Care Gradio Web App: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  • Dropdown Nodule Selector: Instant loading of preprocessed 3D CT scans.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  • 5 Interactive Radiomic Sliders: Allows doctors to adjust subtlety, sphericity, margin, spiculation, and texture in real time.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  • 5-Model Ensemble Engine: Sub-2-second inference runtime.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  • Diagnostic Readout: Status ('MALIGNANT' vs 'BENIGN') + consensus probability + calibrated 57.83% threshold comparison.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  • Multi-Planar Heatmap Plot: Generates synchronized Axial, Coronal, and Sagittal Grad-CAM overlays.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F5D4"/>
                </a:solidFill>
                <a:latin typeface="Arial"/>
              </a:defRPr>
            </a:pPr>
            <a:r>
              <a:t>Clinical Impact &amp; Core Conclusions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Clinical Impact: 89% benign precision and 90% specificity drastically reduce unnecessary diagnostic lung biopsies.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Human-in-the-Loop CADx: Operates as an interactive second reader validating human judgment, not replacing clinicians.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Core Project Achievements:</a:t>
            </a:r>
          </a:p>
          <a:p>
            <a:pPr>
              <a:spcAft>
                <a:spcPts val="600"/>
              </a:spcAft>
              <a:defRPr sz="1050">
                <a:solidFill>
                  <a:srgbClr val="06D6A0"/>
                </a:solidFill>
              </a:defRPr>
            </a:pPr>
            <a:r>
              <a:t>  ✔ Cloud-to-cloud automated pipeline processing 133 GB DICOMs.</a:t>
            </a:r>
          </a:p>
          <a:p>
            <a:pPr>
              <a:spcAft>
                <a:spcPts val="600"/>
              </a:spcAft>
              <a:defRPr sz="1050">
                <a:solidFill>
                  <a:srgbClr val="06D6A0"/>
                </a:solidFill>
              </a:defRPr>
            </a:pPr>
            <a:r>
              <a:t>  ✔ Dynamic Gated Fusion surpassing standalone modalities (0.9042 AUC).</a:t>
            </a:r>
          </a:p>
          <a:p>
            <a:pPr>
              <a:spcAft>
                <a:spcPts val="600"/>
              </a:spcAft>
              <a:defRPr sz="1050">
                <a:solidFill>
                  <a:srgbClr val="06D6A0"/>
                </a:solidFill>
              </a:defRPr>
            </a:pPr>
            <a:r>
              <a:t>  ✔ Zero patient leakage via strict 5-Fold GroupKFold validation.</a:t>
            </a:r>
          </a:p>
          <a:p>
            <a:pPr>
              <a:spcAft>
                <a:spcPts val="600"/>
              </a:spcAft>
              <a:defRPr sz="1050">
                <a:solidFill>
                  <a:srgbClr val="06D6A0"/>
                </a:solidFill>
              </a:defRPr>
            </a:pPr>
            <a:r>
              <a:t>  ✔ Youden's J calibration (0.5783) and 3D Grad-CAM explainability.</a:t>
            </a:r>
          </a:p>
          <a:p>
            <a:pPr algn="ctr">
              <a:defRPr b="1" sz="1400">
                <a:solidFill>
                  <a:srgbClr val="F7B801"/>
                </a:solidFill>
              </a:defRPr>
            </a:pPr>
            <a:r>
              <a:t>Thank you. Open for Questions &amp; Defense.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  <a:latin typeface="Arial"/>
              </a:defRPr>
            </a:pPr>
            <a:r>
              <a:t>Hybrid XAI Lung Nodule Framework  |  LIDC-IDRI Deep Learning Pipeline  |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